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1"/>
  </p:sldMasterIdLst>
  <p:sldIdLst>
    <p:sldId id="256" r:id="rId2"/>
    <p:sldId id="296" r:id="rId3"/>
    <p:sldId id="297" r:id="rId4"/>
    <p:sldId id="298" r:id="rId5"/>
    <p:sldId id="301" r:id="rId6"/>
    <p:sldId id="299" r:id="rId7"/>
    <p:sldId id="300" r:id="rId8"/>
    <p:sldId id="317" r:id="rId9"/>
    <p:sldId id="319" r:id="rId10"/>
    <p:sldId id="302" r:id="rId11"/>
    <p:sldId id="309" r:id="rId12"/>
    <p:sldId id="320" r:id="rId13"/>
    <p:sldId id="303" r:id="rId14"/>
    <p:sldId id="310" r:id="rId15"/>
    <p:sldId id="321" r:id="rId16"/>
    <p:sldId id="304" r:id="rId17"/>
    <p:sldId id="307" r:id="rId18"/>
    <p:sldId id="316" r:id="rId19"/>
    <p:sldId id="311" r:id="rId20"/>
    <p:sldId id="324" r:id="rId21"/>
    <p:sldId id="308" r:id="rId22"/>
    <p:sldId id="322" r:id="rId23"/>
    <p:sldId id="305" r:id="rId24"/>
    <p:sldId id="306" r:id="rId25"/>
    <p:sldId id="313" r:id="rId26"/>
    <p:sldId id="312" r:id="rId27"/>
    <p:sldId id="315" r:id="rId28"/>
    <p:sldId id="326" r:id="rId29"/>
    <p:sldId id="271" r:id="rId30"/>
    <p:sldId id="318" r:id="rId31"/>
    <p:sldId id="283" r:id="rId32"/>
    <p:sldId id="284" r:id="rId33"/>
    <p:sldId id="285" r:id="rId34"/>
    <p:sldId id="325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66"/>
    <a:srgbClr val="1DFF58"/>
    <a:srgbClr val="66FF33"/>
    <a:srgbClr val="FFFF66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8" d="100"/>
          <a:sy n="68" d="100"/>
        </p:scale>
        <p:origin x="-144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1F80-33F1-41C2-9400-FB7C33E60CA0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94B1E-87CC-4177-857E-0C15A973C7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1F80-33F1-41C2-9400-FB7C33E60CA0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94B1E-87CC-4177-857E-0C15A973C7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1F80-33F1-41C2-9400-FB7C33E60CA0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94B1E-87CC-4177-857E-0C15A973C7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1F80-33F1-41C2-9400-FB7C33E60CA0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94B1E-87CC-4177-857E-0C15A973C7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1F80-33F1-41C2-9400-FB7C33E60CA0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94B1E-87CC-4177-857E-0C15A973C7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1F80-33F1-41C2-9400-FB7C33E60CA0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94B1E-87CC-4177-857E-0C15A973C7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1F80-33F1-41C2-9400-FB7C33E60CA0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94B1E-87CC-4177-857E-0C15A973C7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1F80-33F1-41C2-9400-FB7C33E60CA0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94B1E-87CC-4177-857E-0C15A973C7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1F80-33F1-41C2-9400-FB7C33E60CA0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51A94B1E-87CC-4177-857E-0C15A973C7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1F80-33F1-41C2-9400-FB7C33E60CA0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94B1E-87CC-4177-857E-0C15A973C7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1F80-33F1-41C2-9400-FB7C33E60CA0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94B1E-87CC-4177-857E-0C15A973C7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FD11F80-33F1-41C2-9400-FB7C33E60CA0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1A94B1E-87CC-4177-857E-0C15A973C7B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71600" y="1052736"/>
            <a:ext cx="7272808" cy="70788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4000" b="1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Elephant" pitchFamily="18" charset="0"/>
              </a:rPr>
              <a:t>Customer Journey Mapping 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2060848"/>
            <a:ext cx="914400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  <a:latin typeface="Arial Black" pitchFamily="34" charset="0"/>
                <a:cs typeface="Times New Roman" pitchFamily="18" charset="0"/>
              </a:rPr>
              <a:t>A Study of Customer Experience on Myntra</a:t>
            </a:r>
            <a:endParaRPr lang="en-US" sz="2400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FF0000"/>
              </a:solidFill>
              <a:latin typeface="Arial Black" pitchFamily="34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915816" y="2780928"/>
            <a:ext cx="32297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C000"/>
                </a:solidFill>
                <a:latin typeface="Arial Black" pitchFamily="34" charset="0"/>
              </a:rPr>
              <a:t>Internship Project</a:t>
            </a:r>
            <a:endParaRPr lang="en-US" sz="2400" b="1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FFC000"/>
              </a:solidFill>
              <a:latin typeface="Arial Black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95536" y="4653136"/>
            <a:ext cx="3888432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PREPARED BY:</a:t>
            </a:r>
          </a:p>
          <a:p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           SYED ABDUL  ADEEB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3429000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B S CHANNABASAPPA  FIRST GRADE COLLEGE</a:t>
            </a:r>
            <a:endParaRPr lang="en-US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364088" y="4653136"/>
            <a:ext cx="366119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INTERNSHIP ORGANIZATION:</a:t>
            </a:r>
          </a:p>
          <a:p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                                 GLOW LOGIC 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67544" y="1412776"/>
            <a:ext cx="8208912" cy="5198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Awareness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Consideration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Purchase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Delivery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Post-Purchase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Retention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7544" y="764704"/>
            <a:ext cx="29523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cs typeface="Times New Roman" pitchFamily="18" charset="0"/>
              </a:rPr>
              <a:t>Contents</a:t>
            </a:r>
            <a:endParaRPr lang="en-US" sz="4000" b="1" dirty="0"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92696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cs typeface="Times New Roman" pitchFamily="18" charset="0"/>
              </a:rPr>
              <a:t>Introduction to Customer Journey Mapping</a:t>
            </a:r>
            <a:endParaRPr lang="en-US" sz="2400" b="1" dirty="0"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3528" y="1225689"/>
            <a:ext cx="8640960" cy="5011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What is Customer Journey Mapping?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Customer Journey Mapping is a visual representation of the different stages a customer goes through while interacting with a brand.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It helps businesses understand: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Customer needs and expectations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Customer interactions with the brand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Customer emotions at different stages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Pain points and challenges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Opportunities to improve customer experience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1410355"/>
            <a:ext cx="864096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Myntra – E-commerce Fashion Platform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Myntra is an Indian online fashion and lifestyle shopping platform offering products across categories such as: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👕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Clothing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👟 Footwear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👜 Accessories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💄 Beauty &amp; Personal Care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🏠 Lifestyle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826418" y="764704"/>
            <a:ext cx="282801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About  Myntra</a:t>
            </a:r>
          </a:p>
        </p:txBody>
      </p:sp>
      <p:pic>
        <p:nvPicPr>
          <p:cNvPr id="6" name="Picture 5" descr="WhatsApp Image 2026-09-21 at 6.03.21 PM.jpeg"/>
          <p:cNvPicPr>
            <a:picLocks noChangeAspect="1"/>
          </p:cNvPicPr>
          <p:nvPr/>
        </p:nvPicPr>
        <p:blipFill>
          <a:blip r:embed="rId2" cstate="print"/>
          <a:srcRect l="14162" t="29000" r="10308" b="30050"/>
          <a:stretch>
            <a:fillRect/>
          </a:stretch>
        </p:blipFill>
        <p:spPr>
          <a:xfrm>
            <a:off x="5220072" y="3284984"/>
            <a:ext cx="3528392" cy="30243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95536" y="1052736"/>
            <a:ext cx="8352928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 smtClean="0">
                <a:cs typeface="Times New Roman" pitchFamily="18" charset="0"/>
              </a:rPr>
              <a:t>Key Features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Mobile app and website shopping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Wide range of brands and products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Product search and filters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Customer reviews and ratings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Multiple payment options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Order tracking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Return and exchange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7544" y="836712"/>
            <a:ext cx="25557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cs typeface="Times New Roman" pitchFamily="18" charset="0"/>
              </a:rPr>
              <a:t>Objectives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5536" y="1412776"/>
            <a:ext cx="8496944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understand the customer's journey while shopping on Myntra.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identify major customer touch points.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understand customer expectations and emotions.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identify pain points during the shopping process.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analyze opportunities for improving customer experience.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understand factors influencing purchase and repeat usage.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Research Focus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Customer → Interaction → Experience → Pain Point → Improvement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1520" y="908720"/>
            <a:ext cx="42403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cs typeface="Times New Roman" pitchFamily="18" charset="0"/>
              </a:rPr>
              <a:t>Customer Journey Overview</a:t>
            </a:r>
            <a:endParaRPr lang="en-US" sz="2400" b="1" dirty="0">
              <a:cs typeface="Times New Roman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95536" y="1556792"/>
            <a:ext cx="2088232" cy="1080120"/>
          </a:xfrm>
          <a:prstGeom prst="roundRect">
            <a:avLst/>
          </a:prstGeom>
          <a:solidFill>
            <a:srgbClr val="F2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328"/>
                </a:solidFill>
              </a:defRPr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1. Awareness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843808" y="1956832"/>
            <a:ext cx="360040" cy="248032"/>
          </a:xfrm>
          <a:prstGeom prst="rightArrow">
            <a:avLst/>
          </a:prstGeom>
          <a:solidFill>
            <a:srgbClr val="DC3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588224" y="1628800"/>
            <a:ext cx="2088232" cy="1080120"/>
          </a:xfrm>
          <a:prstGeom prst="roundRect">
            <a:avLst/>
          </a:prstGeom>
          <a:solidFill>
            <a:srgbClr val="F2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328"/>
                </a:solidFill>
              </a:defRPr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3. Purchase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491880" y="1628800"/>
            <a:ext cx="2088232" cy="1080120"/>
          </a:xfrm>
          <a:prstGeom prst="roundRect">
            <a:avLst/>
          </a:prstGeom>
          <a:solidFill>
            <a:srgbClr val="F2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328"/>
                </a:solidFill>
              </a:defRPr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2. Consideration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Right Arrow 30"/>
          <p:cNvSpPr/>
          <p:nvPr/>
        </p:nvSpPr>
        <p:spPr>
          <a:xfrm>
            <a:off x="5940152" y="1988840"/>
            <a:ext cx="360040" cy="248032"/>
          </a:xfrm>
          <a:prstGeom prst="rightArrow">
            <a:avLst/>
          </a:prstGeom>
          <a:solidFill>
            <a:srgbClr val="DC3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491880" y="3140968"/>
            <a:ext cx="2088232" cy="1080120"/>
          </a:xfrm>
          <a:prstGeom prst="roundRect">
            <a:avLst/>
          </a:prstGeom>
          <a:solidFill>
            <a:srgbClr val="F2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328"/>
                </a:solidFill>
              </a:defRPr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5. Post-purchase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588224" y="3140968"/>
            <a:ext cx="2088232" cy="1080120"/>
          </a:xfrm>
          <a:prstGeom prst="roundRect">
            <a:avLst/>
          </a:prstGeom>
          <a:solidFill>
            <a:srgbClr val="F2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328"/>
                </a:solidFill>
              </a:defRPr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6. Retention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95536" y="3140968"/>
            <a:ext cx="2088232" cy="1080120"/>
          </a:xfrm>
          <a:prstGeom prst="roundRect">
            <a:avLst/>
          </a:prstGeom>
          <a:solidFill>
            <a:srgbClr val="F2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62328"/>
                </a:solidFill>
              </a:defRPr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4. Delivery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Right Arrow 34"/>
          <p:cNvSpPr/>
          <p:nvPr/>
        </p:nvSpPr>
        <p:spPr>
          <a:xfrm>
            <a:off x="5940152" y="3501008"/>
            <a:ext cx="360040" cy="248032"/>
          </a:xfrm>
          <a:prstGeom prst="rightArrow">
            <a:avLst/>
          </a:prstGeom>
          <a:solidFill>
            <a:srgbClr val="DC3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Right Arrow 35"/>
          <p:cNvSpPr/>
          <p:nvPr/>
        </p:nvSpPr>
        <p:spPr>
          <a:xfrm>
            <a:off x="2843808" y="3501008"/>
            <a:ext cx="360040" cy="248032"/>
          </a:xfrm>
          <a:prstGeom prst="rightArrow">
            <a:avLst/>
          </a:prstGeom>
          <a:solidFill>
            <a:srgbClr val="DC3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95536" y="4437112"/>
            <a:ext cx="8208912" cy="1887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  <a:defRPr sz="1700">
                <a:solidFill>
                  <a:srgbClr val="262328"/>
                </a:solidFill>
              </a:defRPr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• Customer goal: discover a suitable fashion product with confidence.</a:t>
            </a:r>
          </a:p>
          <a:p>
            <a:pPr algn="just">
              <a:spcAft>
                <a:spcPts val="1000"/>
              </a:spcAft>
              <a:defRPr sz="1700">
                <a:solidFill>
                  <a:srgbClr val="262328"/>
                </a:solidFill>
              </a:defRPr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• Business goal: reduce friction at every touch point and encourage repeat purchases.</a:t>
            </a:r>
          </a:p>
          <a:p>
            <a:pPr algn="just">
              <a:spcAft>
                <a:spcPts val="1000"/>
              </a:spcAft>
              <a:defRPr sz="1700">
                <a:solidFill>
                  <a:srgbClr val="262328"/>
                </a:solidFill>
              </a:defRPr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• Primary channels: social media, app/website, product pages, checkout, delivery tracking, returns and loyalty engagement.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hatsApp Image 2026-09-23 at 7.24.16 PM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1124744"/>
            <a:ext cx="228562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2328"/>
                </a:solidFill>
              </a:defRPr>
            </a:pP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1. Awareness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1520" y="1844824"/>
            <a:ext cx="799288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 Black" pitchFamily="34" charset="0"/>
                <a:cs typeface="Times New Roman" pitchFamily="18" charset="0"/>
              </a:rPr>
              <a:t>Customer Goal</a:t>
            </a:r>
            <a:endParaRPr lang="en-US" sz="2000" b="1" dirty="0" smtClean="0">
              <a:latin typeface="Arial Black" pitchFamily="34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Discover fashion products and brands.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 Black" pitchFamily="34" charset="0"/>
                <a:cs typeface="Times New Roman" pitchFamily="18" charset="0"/>
              </a:rPr>
              <a:t>Customer Actions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Sees advertisements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Encounters social media content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Searches for fashion products online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Receives promotional notifications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Hears about Myntra from friends/family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3528" y="980728"/>
            <a:ext cx="828092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 Black" pitchFamily="34" charset="0"/>
                <a:cs typeface="Times New Roman" pitchFamily="18" charset="0"/>
              </a:rPr>
              <a:t>Touch points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Instagram/social media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Google/search engines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Myntra advertisements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Influencers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Promotional campaigns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Word of mouth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 Black" pitchFamily="34" charset="0"/>
                <a:cs typeface="Times New Roman" pitchFamily="18" charset="0"/>
              </a:rPr>
              <a:t>Possible Pain Points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Too many advertisements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Promotional messages may not always be relevant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Difficulty remembering specific offers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hatsApp Image 2026-09-23 at 7.56.05 PM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764704"/>
            <a:ext cx="3392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62328"/>
                </a:solidFill>
              </a:defRPr>
            </a:pPr>
            <a:r>
              <a:rPr lang="en-US" sz="2800" dirty="0" smtClean="0">
                <a:latin typeface="Arial Black" pitchFamily="34" charset="0"/>
                <a:cs typeface="Times New Roman" pitchFamily="18" charset="0"/>
              </a:rPr>
              <a:t>2. Consideration</a:t>
            </a:r>
            <a:endParaRPr lang="en-US" sz="2800" dirty="0">
              <a:latin typeface="Arial Black" pitchFamily="34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1520" y="1340768"/>
            <a:ext cx="8640960" cy="5124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 Black" pitchFamily="34" charset="0"/>
                <a:cs typeface="Times New Roman" pitchFamily="18" charset="0"/>
              </a:rPr>
              <a:t>Customer Goal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Find the right product at the right price.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 Black" pitchFamily="34" charset="0"/>
                <a:cs typeface="Times New Roman" pitchFamily="18" charset="0"/>
              </a:rPr>
              <a:t>Customer Actions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Opens Myntra app/website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Searches for products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Applies filters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Checks product images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Reads reviews and ratings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Compares prices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Checks size availability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Reviews delivery information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3040" y="671691"/>
            <a:ext cx="8640960" cy="6032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 Black" pitchFamily="34" charset="0"/>
                <a:cs typeface="Times New Roman" pitchFamily="18" charset="0"/>
              </a:rPr>
              <a:t>Touch points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Search bar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Product pages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Filters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Reviews &amp; ratings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Size guide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Product recommendations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 Black" pitchFamily="34" charset="0"/>
                <a:cs typeface="Times New Roman" pitchFamily="18" charset="0"/>
              </a:rPr>
              <a:t>Pain Points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Too many choices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Size/fit uncertainty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Product may look different from expectations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Difficulty comparing similar products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hatsApp Image 2026-09-23 at 7.36.03 PM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6328" y="889556"/>
            <a:ext cx="2537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62328"/>
                </a:solidFill>
              </a:defRPr>
            </a:pPr>
            <a:r>
              <a:rPr lang="en-US" sz="2800" dirty="0" smtClean="0">
                <a:latin typeface="Arial Black" pitchFamily="34" charset="0"/>
                <a:cs typeface="Times New Roman" pitchFamily="18" charset="0"/>
              </a:rPr>
              <a:t>3.</a:t>
            </a:r>
            <a:r>
              <a:rPr sz="2800" dirty="0" smtClean="0">
                <a:latin typeface="Arial Black" pitchFamily="34" charset="0"/>
                <a:cs typeface="Times New Roman" pitchFamily="18" charset="0"/>
              </a:rPr>
              <a:t>Purchase</a:t>
            </a:r>
            <a:endParaRPr sz="3200" dirty="0">
              <a:latin typeface="Arial Black" pitchFamily="34" charset="0"/>
              <a:cs typeface="Times New Roman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51520" y="2469083"/>
            <a:ext cx="8568952" cy="3822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Customer Actions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Selects size/color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Adds product to cart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Applies coupon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Reviews final price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Enters/selects delivery address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Chooses payment method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Places order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51520" y="1507431"/>
            <a:ext cx="849694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Customer Goal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Complete the purchase quickly and securely.</a:t>
            </a:r>
          </a:p>
        </p:txBody>
      </p:sp>
      <p:pic>
        <p:nvPicPr>
          <p:cNvPr id="20" name="Picture 19" descr="WhatsApp Image 2026-09-23 at 7.03.37 PM (2)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88432" y="2276872"/>
            <a:ext cx="4860032" cy="43924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95536" y="692696"/>
            <a:ext cx="5493589" cy="326865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 Black" pitchFamily="34" charset="0"/>
                <a:cs typeface="Times New Roman" pitchFamily="18" charset="0"/>
              </a:rPr>
              <a:t>Touch points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Product page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Shopping cart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Coupons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Checkout page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Payment gateway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Order confirmation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7544" y="3789040"/>
            <a:ext cx="5493589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 Black" pitchFamily="34" charset="0"/>
                <a:cs typeface="Times New Roman" pitchFamily="18" charset="0"/>
              </a:rPr>
              <a:t>Pain Points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Coupon restrictions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Unexpected charges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Payment failures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Complicated checkout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Product becoming unavailable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WhatsApp Image 2026-09-23 at 8.03.59 PM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86783" y="764704"/>
            <a:ext cx="3857625" cy="59766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9-23 at 7.39.26 PM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7544" y="908721"/>
            <a:ext cx="34563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latin typeface="Arial Black" pitchFamily="34" charset="0"/>
                <a:cs typeface="Times New Roman" pitchFamily="18" charset="0"/>
              </a:rPr>
              <a:t>4. Delivery</a:t>
            </a:r>
            <a:endParaRPr lang="en-US" sz="2800" b="1" dirty="0">
              <a:latin typeface="Arial Black" pitchFamily="34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3528" y="1450519"/>
            <a:ext cx="8064896" cy="4457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Customer Goal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Receive the correct product on time.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Customer Actions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Receives order confirmation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Tracks shipment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Receives delivery notifications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Receives package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Opens and checks product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 descr="WhatsApp Image 2026-09-23 at 7.42.10 PM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32040" y="908720"/>
            <a:ext cx="4032448" cy="57606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hatsApp Image 2026-09-23 at 8.14.09 PM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ChangeArrowheads="1"/>
          </p:cNvSpPr>
          <p:nvPr/>
        </p:nvSpPr>
        <p:spPr bwMode="auto">
          <a:xfrm>
            <a:off x="323528" y="800999"/>
            <a:ext cx="5154553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itchFamily="34" charset="0"/>
                <a:cs typeface="Times New Roman" pitchFamily="18" charset="0"/>
              </a:rPr>
              <a:t>Pain Points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Delivery delays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Tracking information not updating immediately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Damaged packaging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Wrong or missing products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5536" y="3474874"/>
            <a:ext cx="4572000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 Black" pitchFamily="34" charset="0"/>
              </a:rPr>
              <a:t>Touch points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SMS/email/app notifications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Order tracking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Delivery partner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Packaging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Delivered product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hatsApp Image 2026-09-23 at 8.08.40 PM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67544" y="980728"/>
            <a:ext cx="34839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latin typeface="Arial Black" pitchFamily="34" charset="0"/>
                <a:cs typeface="Times New Roman" pitchFamily="18" charset="0"/>
              </a:rPr>
              <a:t>5. Post-Purchase</a:t>
            </a:r>
            <a:endParaRPr lang="en-US" sz="2800" b="1" dirty="0">
              <a:latin typeface="Arial Black" pitchFamily="34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5536" y="1635765"/>
            <a:ext cx="763284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Arial Black" pitchFamily="34" charset="0"/>
                <a:cs typeface="Times New Roman" pitchFamily="18" charset="0"/>
              </a:rPr>
              <a:t>Customer Goal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Be satisfied with the product and resolve issues easily.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5536" y="2420888"/>
            <a:ext cx="4572000" cy="33239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 Black" pitchFamily="34" charset="0"/>
              </a:rPr>
              <a:t>Customer Actions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/>
              <a:t>Uses the product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/>
              <a:t>Checks product quality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/>
              <a:t>Gives rating/review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/>
              <a:t>Contacts customer support if necessary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/>
              <a:t>Requests return/exchange when required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ChangeArrowheads="1"/>
          </p:cNvSpPr>
          <p:nvPr/>
        </p:nvSpPr>
        <p:spPr bwMode="auto">
          <a:xfrm>
            <a:off x="323528" y="3480684"/>
            <a:ext cx="8280920" cy="2816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itchFamily="34" charset="0"/>
                <a:cs typeface="Times New Roman" pitchFamily="18" charset="0"/>
              </a:rPr>
              <a:t>Pain Points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Return/exchange process</a:t>
            </a:r>
            <a:endParaRPr kumimoji="0" 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Refund waiting time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Product quality concerns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Customer support issues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3528" y="764704"/>
            <a:ext cx="5904656" cy="2806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 Black" pitchFamily="34" charset="0"/>
                <a:cs typeface="Times New Roman" pitchFamily="18" charset="0"/>
              </a:rPr>
              <a:t>Touch points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Product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Review section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Return/exchange process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Customer support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Refund system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WhatsApp Image 2026-09-23 at 3.10.14 PM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3528" y="908720"/>
            <a:ext cx="6559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Arial Black" pitchFamily="34" charset="0"/>
                <a:cs typeface="Times New Roman" pitchFamily="18" charset="0"/>
              </a:rPr>
              <a:t>6. Loyalty &amp; Customer Retention</a:t>
            </a:r>
            <a:endParaRPr lang="en-US" sz="2800" dirty="0">
              <a:latin typeface="Arial Black" pitchFamily="34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5536" y="1844824"/>
            <a:ext cx="85689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Arial Black" pitchFamily="34" charset="0"/>
              </a:rPr>
              <a:t>Customer Goal</a:t>
            </a:r>
          </a:p>
          <a:p>
            <a:r>
              <a:rPr lang="en-US" sz="2000" dirty="0" smtClean="0"/>
              <a:t>Find useful products and enjoy a convenient shopping experience.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395536" y="2780928"/>
            <a:ext cx="4572000" cy="33239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 Black" pitchFamily="34" charset="0"/>
              </a:rPr>
              <a:t>Customer Actions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/>
              <a:t>Returns to the app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/>
              <a:t>Searches for new products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/>
              <a:t>Uses personalized recommendations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/>
              <a:t>Responds to offers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/>
              <a:t>Purchases again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/>
              <a:t>Recommends the platform to others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836712"/>
            <a:ext cx="604867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 Black" pitchFamily="34" charset="0"/>
              </a:rPr>
              <a:t>Touch points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Personalized homepage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Notifications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Offers and discounts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Recommendations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Loyalty/benefit programs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Social media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95536" y="4033665"/>
            <a:ext cx="6696744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Black" pitchFamily="34" charset="0"/>
                <a:cs typeface="Times New Roman" pitchFamily="18" charset="0"/>
              </a:rPr>
              <a:t>Pain Points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Return/exchange process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Refund waiting time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Product quality concerns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Customer support issues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hatsApp Image 2026-09-23 at 9.00.36 PM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764704"/>
            <a:ext cx="41764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Arial Black" pitchFamily="34" charset="0"/>
                <a:cs typeface="Times New Roman" pitchFamily="18" charset="0"/>
              </a:rPr>
              <a:t>STRATEGIC GROWTH PLAN</a:t>
            </a:r>
            <a:endParaRPr lang="en-US" sz="1100" b="1" dirty="0" smtClean="0">
              <a:latin typeface="Arial Black" pitchFamily="34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7544" y="1196752"/>
            <a:ext cx="7848872" cy="5586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 Black" pitchFamily="34" charset="0"/>
                <a:cs typeface="Times New Roman" pitchFamily="18" charset="0"/>
              </a:rPr>
              <a:t>1. Personalization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AI-driven product recommendations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Personalized home page and offers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Recommendations based on browsing and purchase behavior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 Black" pitchFamily="34" charset="0"/>
                <a:cs typeface="Times New Roman" pitchFamily="18" charset="0"/>
              </a:rPr>
              <a:t>2. Customer Experience</a:t>
            </a:r>
            <a:endParaRPr lang="en-US" sz="2000" dirty="0" smtClean="0">
              <a:latin typeface="Arial Black" pitchFamily="34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Simplify search, filters and checkout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Improve size/fit guidance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Make returns and exchanges easier to understand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 Black" pitchFamily="34" charset="0"/>
                <a:cs typeface="Times New Roman" pitchFamily="18" charset="0"/>
              </a:rPr>
              <a:t>3. Customer Retention</a:t>
            </a:r>
            <a:endParaRPr lang="en-US" sz="2000" dirty="0" smtClean="0">
              <a:latin typeface="Arial Black" pitchFamily="34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Strengthen Myntra Insider benefits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Personalized offers for returning customers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Reward repeat purchases and engagement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groth"/>
          <p:cNvPicPr>
            <a:picLocks noChangeAspect="1"/>
          </p:cNvPicPr>
          <p:nvPr/>
        </p:nvPicPr>
        <p:blipFill>
          <a:blip r:embed="rId2" cstate="print"/>
          <a:srcRect t="12201"/>
          <a:stretch>
            <a:fillRect/>
          </a:stretch>
        </p:blipFill>
        <p:spPr>
          <a:xfrm>
            <a:off x="251520" y="980728"/>
            <a:ext cx="4464495" cy="5472608"/>
          </a:xfrm>
          <a:prstGeom prst="rect">
            <a:avLst/>
          </a:prstGeom>
        </p:spPr>
      </p:pic>
      <p:pic>
        <p:nvPicPr>
          <p:cNvPr id="10" name="Picture 9" descr="discount"/>
          <p:cNvPicPr>
            <a:picLocks noChangeAspect="1"/>
          </p:cNvPicPr>
          <p:nvPr/>
        </p:nvPicPr>
        <p:blipFill>
          <a:blip r:embed="rId3" cstate="print"/>
          <a:srcRect r="2197"/>
          <a:stretch>
            <a:fillRect/>
          </a:stretch>
        </p:blipFill>
        <p:spPr>
          <a:xfrm>
            <a:off x="5148064" y="1052736"/>
            <a:ext cx="3388472" cy="561662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9512" y="889844"/>
            <a:ext cx="8712968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 Black" pitchFamily="34" charset="0"/>
                <a:cs typeface="Times New Roman" pitchFamily="18" charset="0"/>
              </a:rPr>
              <a:t>4. Omnichannel &amp; Engagement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Connect app, website and social-media experiences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 short-form fashion content for product discovery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Collaborate with relevant creators and fashion communities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 Black" pitchFamily="34" charset="0"/>
                <a:cs typeface="Times New Roman" pitchFamily="18" charset="0"/>
              </a:rPr>
              <a:t>Growth Plan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Short Term → Medium Term → Long Term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0–6 Months: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Improve UX, search, size guidance &amp; checkout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↓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6–18 Months: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Expand personalization &amp; retention initiatives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↓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18+ Months: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Build deeper AI-driven fashion discovery and customer engagement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90670" y="796642"/>
            <a:ext cx="487341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latin typeface="Arial Black" pitchFamily="34" charset="0"/>
              </a:rPr>
              <a:t>Recommendations</a:t>
            </a:r>
            <a:endParaRPr lang="en-US" sz="2800" b="1" dirty="0">
              <a:latin typeface="Arial Black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9511" y="1341584"/>
          <a:ext cx="8784978" cy="5516416"/>
        </p:xfrm>
        <a:graphic>
          <a:graphicData uri="http://schemas.openxmlformats.org/drawingml/2006/table">
            <a:tbl>
              <a:tblPr/>
              <a:tblGrid>
                <a:gridCol w="2928326"/>
                <a:gridCol w="2928326"/>
                <a:gridCol w="2928326"/>
              </a:tblGrid>
              <a:tr h="684358">
                <a:tc>
                  <a:txBody>
                    <a:bodyPr/>
                    <a:lstStyle/>
                    <a:p>
                      <a:r>
                        <a:rPr lang="en-US" sz="1800" dirty="0"/>
                        <a:t>Customer Challenge</a:t>
                      </a:r>
                    </a:p>
                  </a:txBody>
                  <a:tcPr marL="73891" marR="73891" marT="36945" marB="369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Recommendation</a:t>
                      </a:r>
                    </a:p>
                  </a:txBody>
                  <a:tcPr marL="73891" marR="73891" marT="36945" marB="369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Expected Benefit</a:t>
                      </a:r>
                    </a:p>
                  </a:txBody>
                  <a:tcPr marL="73891" marR="73891" marT="36945" marB="369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77655">
                <a:tc>
                  <a:txBody>
                    <a:bodyPr/>
                    <a:lstStyle/>
                    <a:p>
                      <a:r>
                        <a:rPr lang="en-US" sz="1800" dirty="0"/>
                        <a:t>Too many product choices</a:t>
                      </a:r>
                    </a:p>
                  </a:txBody>
                  <a:tcPr marL="73891" marR="73891" marT="36945" marB="369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Smarter filters &amp; AI recommendations</a:t>
                      </a:r>
                    </a:p>
                  </a:txBody>
                  <a:tcPr marL="73891" marR="73891" marT="36945" marB="369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Faster discovery</a:t>
                      </a:r>
                    </a:p>
                  </a:txBody>
                  <a:tcPr marL="73891" marR="73891" marT="36945" marB="369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23674">
                <a:tc>
                  <a:txBody>
                    <a:bodyPr/>
                    <a:lstStyle/>
                    <a:p>
                      <a:r>
                        <a:rPr lang="en-US" sz="1800"/>
                        <a:t>Size/fit uncertainty</a:t>
                      </a:r>
                    </a:p>
                  </a:txBody>
                  <a:tcPr marL="73891" marR="73891" marT="36945" marB="369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Improve size &amp; fit recommendations</a:t>
                      </a:r>
                    </a:p>
                  </a:txBody>
                  <a:tcPr marL="73891" marR="73891" marT="36945" marB="369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Greater purchase confidence</a:t>
                      </a:r>
                    </a:p>
                  </a:txBody>
                  <a:tcPr marL="73891" marR="73891" marT="36945" marB="369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84358">
                <a:tc>
                  <a:txBody>
                    <a:bodyPr/>
                    <a:lstStyle/>
                    <a:p>
                      <a:r>
                        <a:rPr lang="en-US" sz="1800"/>
                        <a:t>Checkout friction</a:t>
                      </a:r>
                    </a:p>
                  </a:txBody>
                  <a:tcPr marL="73891" marR="73891" marT="36945" marB="369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Simplify checkout</a:t>
                      </a:r>
                    </a:p>
                  </a:txBody>
                  <a:tcPr marL="73891" marR="73891" marT="36945" marB="369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Easier purchase completion</a:t>
                      </a:r>
                    </a:p>
                  </a:txBody>
                  <a:tcPr marL="73891" marR="73891" marT="36945" marB="369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84358">
                <a:tc>
                  <a:txBody>
                    <a:bodyPr/>
                    <a:lstStyle/>
                    <a:p>
                      <a:r>
                        <a:rPr lang="en-US" sz="1800"/>
                        <a:t>Delivery uncertainty</a:t>
                      </a:r>
                    </a:p>
                  </a:txBody>
                  <a:tcPr marL="73891" marR="73891" marT="36945" marB="369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More transparent tracking</a:t>
                      </a:r>
                    </a:p>
                  </a:txBody>
                  <a:tcPr marL="73891" marR="73891" marT="36945" marB="369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Better customer confidence</a:t>
                      </a:r>
                    </a:p>
                  </a:txBody>
                  <a:tcPr marL="73891" marR="73891" marT="36945" marB="369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77655">
                <a:tc>
                  <a:txBody>
                    <a:bodyPr/>
                    <a:lstStyle/>
                    <a:p>
                      <a:r>
                        <a:rPr lang="en-US" sz="1800"/>
                        <a:t>Return concerns</a:t>
                      </a:r>
                    </a:p>
                  </a:txBody>
                  <a:tcPr marL="73891" marR="73891" marT="36945" marB="369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Simplify return/exchange communication</a:t>
                      </a:r>
                    </a:p>
                  </a:txBody>
                  <a:tcPr marL="73891" marR="73891" marT="36945" marB="369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Reduced customer frustration</a:t>
                      </a:r>
                    </a:p>
                  </a:txBody>
                  <a:tcPr marL="73891" marR="73891" marT="36945" marB="369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84358">
                <a:tc>
                  <a:txBody>
                    <a:bodyPr/>
                    <a:lstStyle/>
                    <a:p>
                      <a:r>
                        <a:rPr lang="en-US" sz="1800" dirty="0"/>
                        <a:t>Irrelevant promotions</a:t>
                      </a:r>
                    </a:p>
                  </a:txBody>
                  <a:tcPr marL="73891" marR="73891" marT="36945" marB="369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Personalized offers</a:t>
                      </a:r>
                    </a:p>
                  </a:txBody>
                  <a:tcPr marL="73891" marR="73891" marT="36945" marB="369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More relevant engagement</a:t>
                      </a:r>
                    </a:p>
                  </a:txBody>
                  <a:tcPr marL="73891" marR="73891" marT="36945" marB="369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9632" y="764704"/>
            <a:ext cx="32403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latin typeface="Arial Black" pitchFamily="34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520" y="1196752"/>
            <a:ext cx="8640960" cy="46020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Customer experience is influenced by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every touch point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not only the purchase.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Product discovery and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personalization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can make shopping more relevant.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Clear product information and size guidance can improve purchase confidence.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smooth checkout and transparent delivery experience can reduce friction.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Easy returns, responsive support and loyalty initiatives can strengthen long-term engagement.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hatsApp Image 2026-09-23 at 9.16.12 PM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1527</TotalTime>
  <Words>895</Words>
  <Application>Microsoft Office PowerPoint</Application>
  <PresentationFormat>On-screen Show (4:3)</PresentationFormat>
  <Paragraphs>240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Flow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148</cp:revision>
  <dcterms:created xsi:type="dcterms:W3CDTF">2026-09-04T05:43:28Z</dcterms:created>
  <dcterms:modified xsi:type="dcterms:W3CDTF">2026-09-28T11:17:55Z</dcterms:modified>
</cp:coreProperties>
</file>