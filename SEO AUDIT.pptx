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72" r:id="rId3"/>
    <p:sldId id="297" r:id="rId4"/>
    <p:sldId id="271" r:id="rId5"/>
    <p:sldId id="298" r:id="rId6"/>
    <p:sldId id="277" r:id="rId7"/>
    <p:sldId id="273" r:id="rId8"/>
    <p:sldId id="278" r:id="rId9"/>
    <p:sldId id="279" r:id="rId10"/>
    <p:sldId id="280" r:id="rId11"/>
    <p:sldId id="281" r:id="rId12"/>
    <p:sldId id="282" r:id="rId13"/>
    <p:sldId id="299" r:id="rId14"/>
    <p:sldId id="300" r:id="rId15"/>
    <p:sldId id="301" r:id="rId16"/>
    <p:sldId id="302" r:id="rId17"/>
    <p:sldId id="283" r:id="rId18"/>
    <p:sldId id="284" r:id="rId19"/>
    <p:sldId id="287" r:id="rId20"/>
    <p:sldId id="286" r:id="rId21"/>
    <p:sldId id="288" r:id="rId22"/>
    <p:sldId id="285" r:id="rId23"/>
    <p:sldId id="289" r:id="rId24"/>
    <p:sldId id="290" r:id="rId25"/>
    <p:sldId id="291" r:id="rId26"/>
    <p:sldId id="292" r:id="rId27"/>
    <p:sldId id="293" r:id="rId28"/>
    <p:sldId id="295" r:id="rId29"/>
    <p:sldId id="296" r:id="rId30"/>
    <p:sldId id="304" r:id="rId31"/>
    <p:sldId id="303" r:id="rId32"/>
    <p:sldId id="305" r:id="rId33"/>
    <p:sldId id="306" r:id="rId34"/>
    <p:sldId id="307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E0FF"/>
    <a:srgbClr val="FFCCFF"/>
    <a:srgbClr val="6BE2EF"/>
    <a:srgbClr val="99FF99"/>
    <a:srgbClr val="FF99CC"/>
    <a:srgbClr val="15B1C1"/>
    <a:srgbClr val="FFFF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7" d="100"/>
          <a:sy n="67" d="100"/>
        </p:scale>
        <p:origin x="-14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F865EC50-5B40-4EBC-9E7E-32B4ED17A30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30179E84-1D01-4556-8C60-5E16528FFD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F865EC50-5B40-4EBC-9E7E-32B4ED17A30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9E84-1D01-4556-8C60-5E16528FFD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F865EC50-5B40-4EBC-9E7E-32B4ED17A30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30179E84-1D01-4556-8C60-5E16528FFDB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F865EC50-5B40-4EBC-9E7E-32B4ED17A30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30179E84-1D01-4556-8C60-5E16528FFD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F865EC50-5B40-4EBC-9E7E-32B4ED17A30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30179E84-1D01-4556-8C60-5E16528FFD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EC50-5B40-4EBC-9E7E-32B4ED17A30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9E84-1D01-4556-8C60-5E16528FFD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F865EC50-5B40-4EBC-9E7E-32B4ED17A30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30179E84-1D01-4556-8C60-5E16528FFD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F865EC50-5B40-4EBC-9E7E-32B4ED17A30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30179E84-1D01-4556-8C60-5E16528FFD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F865EC50-5B40-4EBC-9E7E-32B4ED17A30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30179E84-1D01-4556-8C60-5E16528FFD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EC50-5B40-4EBC-9E7E-32B4ED17A30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9E84-1D01-4556-8C60-5E16528FFD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EC50-5B40-4EBC-9E7E-32B4ED17A30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9E84-1D01-4556-8C60-5E16528FFD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F865EC50-5B40-4EBC-9E7E-32B4ED17A30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30179E84-1D01-4556-8C60-5E16528FFD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EE4D3323-1A37-4409-B645-A98CDABEC1D0}"/>
              </a:ext>
            </a:extLst>
          </p:cNvPr>
          <p:cNvSpPr>
            <a:spLocks noGrp="1"/>
          </p:cNvSpPr>
          <p:nvPr/>
        </p:nvSpPr>
        <p:spPr>
          <a:xfrm>
            <a:off x="755576" y="764704"/>
            <a:ext cx="7560840" cy="136815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550" b="1" i="0">
                <a:solidFill>
                  <a:srgbClr val="F3C35E"/>
                </a:solidFill>
                <a:latin typeface="Arial"/>
                <a:ea typeface="Arial"/>
                <a:cs typeface="Arial"/>
              </a:defRPr>
            </a:pPr>
            <a:r>
              <a:rPr lang="en-IN" sz="4000" dirty="0" smtClean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latin typeface="Britannic Bold" pitchFamily="34" charset="0"/>
                <a:ea typeface="Arial"/>
                <a:cs typeface="Arial"/>
              </a:rPr>
              <a:t>SEARCH ENGINE OPTIMIZATION</a:t>
            </a:r>
          </a:p>
          <a:p>
            <a:pPr algn="ctr">
              <a:defRPr sz="2550" b="1" i="0">
                <a:solidFill>
                  <a:srgbClr val="F3C35E"/>
                </a:solidFill>
                <a:latin typeface="Arial"/>
                <a:ea typeface="Arial"/>
                <a:cs typeface="Arial"/>
              </a:defRPr>
            </a:pPr>
            <a:r>
              <a:rPr lang="en-IN" sz="4000" dirty="0" smtClean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latin typeface="Britannic Bold" pitchFamily="34" charset="0"/>
                <a:ea typeface="Arial"/>
                <a:cs typeface="Arial"/>
              </a:rPr>
              <a:t>AUDIT</a:t>
            </a:r>
          </a:p>
          <a:p>
            <a:pPr algn="ctr">
              <a:defRPr sz="2550" b="1" i="0">
                <a:solidFill>
                  <a:srgbClr val="F3C35E"/>
                </a:solidFill>
                <a:latin typeface="Arial"/>
                <a:ea typeface="Arial"/>
                <a:cs typeface="Arial"/>
              </a:defRPr>
            </a:pPr>
            <a:r>
              <a:rPr lang="en-IN" sz="4000" dirty="0" smtClean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latin typeface="Britannic Bold" pitchFamily="34" charset="0"/>
                <a:ea typeface="Arial"/>
                <a:cs typeface="Arial"/>
              </a:rPr>
              <a:t> </a:t>
            </a:r>
            <a:endParaRPr sz="4000" i="0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atin typeface="Britannic Bold" pitchFamily="34" charset="0"/>
              <a:ea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907704" y="2852936"/>
            <a:ext cx="54726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latin typeface="Stencil" pitchFamily="82" charset="0"/>
                <a:cs typeface="Times New Roman" pitchFamily="18" charset="0"/>
              </a:rPr>
              <a:t>Internship Project</a:t>
            </a:r>
            <a:endParaRPr lang="en-US" sz="2800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atin typeface="Stencil" pitchFamily="82" charset="0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51520" y="5085184"/>
            <a:ext cx="4572000" cy="6771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 smtClean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latin typeface="Times New Roman" pitchFamily="18" charset="0"/>
                <a:cs typeface="Times New Roman" pitchFamily="18" charset="0"/>
              </a:rPr>
              <a:t>PREPARED BY:</a:t>
            </a:r>
          </a:p>
          <a:p>
            <a:r>
              <a:rPr lang="en-US" dirty="0" smtClean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latin typeface="Times New Roman" pitchFamily="18" charset="0"/>
                <a:cs typeface="Times New Roman" pitchFamily="18" charset="0"/>
              </a:rPr>
              <a:t>            SYED ABDUL  ADEEB</a:t>
            </a:r>
            <a:endParaRPr lang="en-US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788024" y="508518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latin typeface="Times New Roman" pitchFamily="18" charset="0"/>
                <a:cs typeface="Times New Roman" pitchFamily="18" charset="0"/>
              </a:rPr>
              <a:t>INTERNSHIP</a:t>
            </a:r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latin typeface="Times New Roman" pitchFamily="18" charset="0"/>
                <a:cs typeface="Times New Roman" pitchFamily="18" charset="0"/>
              </a:rPr>
              <a:t>ORGANIZATION</a:t>
            </a:r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                                   </a:t>
            </a:r>
            <a:r>
              <a:rPr lang="en-US" dirty="0" smtClean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latin typeface="Times New Roman" pitchFamily="18" charset="0"/>
                <a:cs typeface="Times New Roman" pitchFamily="18" charset="0"/>
              </a:rPr>
              <a:t>GLOW</a:t>
            </a:r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latin typeface="Times New Roman" pitchFamily="18" charset="0"/>
                <a:cs typeface="Times New Roman" pitchFamily="18" charset="0"/>
              </a:rPr>
              <a:t>LOGIC</a:t>
            </a:r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31640" y="2204864"/>
            <a:ext cx="6552728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APPOLO PHARMACY WEBSITE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15616" y="3573016"/>
            <a:ext cx="70567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B S CHANNABASAPPA  FIRST GRADE COLLEGE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9512" y="1340768"/>
            <a:ext cx="867645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This presentation reviews the Apollo Pharmacy website from an SEO perspective.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The audit looks at how easily users and search engines can find and understand its pages.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It covers technical SEO, on-page content, site structure, mobile usability, and local search.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The aim is to identify improvement opportunities—not to claim access to Apollo Pharmacy’s private analytics</a:t>
            </a:r>
            <a:endParaRPr lang="en-US"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43808" y="332656"/>
            <a:ext cx="2991525" cy="9025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 smtClean="0">
                <a:latin typeface="Britannic Bold" pitchFamily="34" charset="0"/>
                <a:cs typeface="Times New Roman" pitchFamily="18" charset="0"/>
              </a:rPr>
              <a:t>Introduction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3568" y="404664"/>
            <a:ext cx="271741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>
                <a:solidFill>
                  <a:srgbClr val="89E0FF"/>
                </a:solidFill>
                <a:latin typeface="Arial Black" pitchFamily="34" charset="0"/>
              </a:rPr>
              <a:t>Contents</a:t>
            </a:r>
            <a:endParaRPr lang="en-US" sz="4000" dirty="0">
              <a:solidFill>
                <a:srgbClr val="89E0FF"/>
              </a:solidFill>
              <a:latin typeface="Arial Black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539552" y="1205267"/>
            <a:ext cx="6019020" cy="5185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About Apollo Pharmacy and its website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Website structure and key pages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Keyword research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Technical SEO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page speed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Backlink overview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Recommendations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Conclusion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483768" cy="17728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Rectangle 4"/>
          <p:cNvSpPr/>
          <p:nvPr/>
        </p:nvSpPr>
        <p:spPr>
          <a:xfrm>
            <a:off x="323528" y="1988840"/>
            <a:ext cx="8352928" cy="4539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Apollo Pharmacy is an online pharmacy and retail brand in India.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Its website lets customers browse medicines and health, wellness, and personal-care products.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site also helps users find pharmacy stores.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This audit focuses on the public-facing website, not Apollo Pharmacy’s internal analytics.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43808" y="764704"/>
            <a:ext cx="51125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89E0FF"/>
                </a:solidFill>
                <a:latin typeface="Arial Black" pitchFamily="34" charset="0"/>
              </a:rPr>
              <a:t>About Apollo Pharmacy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75656" y="188640"/>
            <a:ext cx="61991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 smtClean="0">
                <a:solidFill>
                  <a:srgbClr val="89E0FF"/>
                </a:solidFill>
                <a:latin typeface="Britannic Bold" pitchFamily="34" charset="0"/>
              </a:rPr>
              <a:t>Website Structure and Key Pages</a:t>
            </a:r>
            <a:endParaRPr lang="en-US" sz="3200" dirty="0">
              <a:solidFill>
                <a:srgbClr val="89E0FF"/>
              </a:solidFill>
              <a:latin typeface="Britannic Bold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3528" y="908720"/>
            <a:ext cx="8640960" cy="5678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Main navigation: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Buy Medicines, Find Doctors, Lab Tests, Circle Membership, Health Records, Credit Card, and  Buy Insurance.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Product categories:</a:t>
            </a:r>
            <a:r>
              <a:rPr lang="en-US" sz="2000" dirty="0" smtClean="0">
                <a:latin typeface="Arial Black" pitchFamily="34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Apollo Products, Baby Care, Nutritional Drinks &amp; Supplements, Women Care, Personal Care, Ayurveda, Health Devices, </a:t>
            </a:r>
          </a:p>
          <a:p>
            <a:pPr algn="just"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Home Essentials, and Health Condition.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Homepage features:</a:t>
            </a:r>
            <a:r>
              <a:rPr lang="en-US" sz="2000" dirty="0" smtClean="0">
                <a:latin typeface="Arial Black" pitchFamily="34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Medicine search, a medicine offer, Doctor Appointment, Health Insurance, and  Lab Tests at Home.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Health condition links:</a:t>
            </a:r>
            <a:r>
              <a:rPr lang="en-US" sz="2000" dirty="0" smtClean="0">
                <a:latin typeface="Arial Black" pitchFamily="34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Diabetes Care, Cardiac Care, Stomach Care, Pain Relief, and Liver Care.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Account and support:</a:t>
            </a:r>
            <a:r>
              <a:rPr lang="en-US" sz="2000" dirty="0" smtClean="0">
                <a:latin typeface="Arial Black" pitchFamily="34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Delivery address, cart, login, and a WhatsApp contact button.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89E0FF"/>
                </a:solidFill>
                <a:latin typeface="Times New Roman" pitchFamily="18" charset="0"/>
                <a:cs typeface="Times New Roman" pitchFamily="18" charset="0"/>
              </a:rPr>
              <a:t>Home page(Buy Medicine)</a:t>
            </a:r>
            <a:endParaRPr lang="en-US" sz="3200" b="1" dirty="0" smtClean="0">
              <a:solidFill>
                <a:srgbClr val="89E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8" descr="Screenshot 2026-09-27 141927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92696"/>
            <a:ext cx="9144000" cy="61653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creenshot 2026-09-27 150546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62373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89E0FF"/>
                </a:solidFill>
                <a:latin typeface="Times New Roman" pitchFamily="18" charset="0"/>
                <a:cs typeface="Times New Roman" pitchFamily="18" charset="0"/>
              </a:rPr>
              <a:t>Home(Find Doctors)</a:t>
            </a:r>
            <a:endParaRPr lang="en-US" sz="3200" b="1" dirty="0" smtClean="0">
              <a:solidFill>
                <a:srgbClr val="89E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6-09-27 15160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9"/>
            <a:ext cx="9144000" cy="62373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89E0FF"/>
                </a:solidFill>
                <a:latin typeface="Times New Roman" pitchFamily="18" charset="0"/>
                <a:cs typeface="Times New Roman" pitchFamily="18" charset="0"/>
              </a:rPr>
              <a:t>Home(Lab Tests)</a:t>
            </a:r>
            <a:endParaRPr lang="en-US" sz="3200" b="1" dirty="0" smtClean="0">
              <a:solidFill>
                <a:srgbClr val="89E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260648"/>
            <a:ext cx="35445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89E0FF"/>
                </a:solidFill>
                <a:latin typeface="Britannic Bold" pitchFamily="34" charset="0"/>
              </a:rPr>
              <a:t>Keyword Research</a:t>
            </a:r>
            <a:endParaRPr lang="en-US" sz="3200" dirty="0">
              <a:solidFill>
                <a:srgbClr val="89E0FF"/>
              </a:solidFill>
              <a:latin typeface="Britannic Bold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95536" y="1268760"/>
          <a:ext cx="8352928" cy="5298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4309"/>
                <a:gridCol w="3120347"/>
                <a:gridCol w="2448272"/>
              </a:tblGrid>
              <a:tr h="605039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C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Search intent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C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Example keywords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C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Relevant page</a:t>
                      </a:r>
                    </a:p>
                  </a:txBody>
                  <a:tcPr anchor="ctr"/>
                </a:tc>
              </a:tr>
              <a:tr h="835121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Buy medicines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“buy medicines </a:t>
                      </a: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online”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Buy Medicines</a:t>
                      </a:r>
                    </a:p>
                  </a:txBody>
                  <a:tcPr anchor="ctr"/>
                </a:tc>
              </a:tr>
              <a:tr h="1512168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Shop a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“baby care </a:t>
                      </a: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products”, </a:t>
                      </a:r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“women care </a:t>
                      </a: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products”, </a:t>
                      </a:r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“health devices”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Matching product category</a:t>
                      </a:r>
                    </a:p>
                  </a:txBody>
                  <a:tcPr anchor="ctr"/>
                </a:tc>
              </a:tr>
              <a:tr h="1584176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Find a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“book doctor </a:t>
                      </a: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appointment”, </a:t>
                      </a:r>
                    </a:p>
                    <a:p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“</a:t>
                      </a:r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lab tests at home”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Doctor or Lab Tests</a:t>
                      </a:r>
                    </a:p>
                  </a:txBody>
                  <a:tcPr anchor="ctr"/>
                </a:tc>
              </a:tr>
              <a:tr h="605039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Browse health needs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“diabetes </a:t>
                      </a: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care</a:t>
                      </a:r>
                      <a:r>
                        <a:rPr lang="en-US" sz="2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products”, </a:t>
                      </a:r>
                    </a:p>
                    <a:p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“</a:t>
                      </a:r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cardiac care products”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Health Conditions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9-27 15462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0"/>
            <a:ext cx="38423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89E0FF"/>
                </a:solidFill>
                <a:latin typeface="Arial Black" pitchFamily="34" charset="0"/>
              </a:rPr>
              <a:t>Technical SEO</a:t>
            </a:r>
            <a:endParaRPr lang="en-US" sz="3600" dirty="0">
              <a:solidFill>
                <a:srgbClr val="89E0FF"/>
              </a:solidFill>
              <a:latin typeface="Arial Black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1520" y="692696"/>
            <a:ext cx="867645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Mobile usability: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website was easy to use on my phone. The navigation, medicine search, and key service links were accessible.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HTTPS: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homepage opens using a secure https:// address.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Broken links: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No broken links were found in the homepage links tested; they opened the expected pages.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Google Search Console: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Its private data requires website ownership verification or access from an owner  we can’t present Apollo’s private data as part of this public audit.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Indexing signals: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Good for the pages checked The tested pages were discoverable in Google Search.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548680"/>
            <a:ext cx="53394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600" dirty="0" smtClean="0">
                <a:solidFill>
                  <a:srgbClr val="89E0FF"/>
                </a:solidFill>
                <a:latin typeface="Arial Black" pitchFamily="34" charset="0"/>
              </a:rPr>
              <a:t>Page Speed Insights</a:t>
            </a:r>
            <a:endParaRPr lang="en-US" sz="3600" dirty="0">
              <a:solidFill>
                <a:srgbClr val="89E0FF"/>
              </a:solidFill>
              <a:latin typeface="Arial Black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3528" y="1268760"/>
            <a:ext cx="8820472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REPORT THE MOBILE RESULTS:-</a:t>
            </a:r>
          </a:p>
          <a:p>
            <a:pPr>
              <a:lnSpc>
                <a:spcPct val="20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Page tested: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Apollo Pharmacy (www.apollopharmacy.in )</a:t>
            </a:r>
          </a:p>
          <a:p>
            <a:pPr>
              <a:lnSpc>
                <a:spcPct val="20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Device: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Mobile</a:t>
            </a:r>
          </a:p>
          <a:p>
            <a:pPr>
              <a:lnSpc>
                <a:spcPct val="20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Performance score: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33/ 100</a:t>
            </a:r>
          </a:p>
          <a:p>
            <a:pPr>
              <a:lnSpc>
                <a:spcPct val="20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Largest Contentful  Paint (LCP):17.0s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Cumulative Layout Shift (CLS):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0.0</a:t>
            </a:r>
          </a:p>
          <a:p>
            <a:pPr>
              <a:lnSpc>
                <a:spcPct val="20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First Contentful Paint(FCP):4.5 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6-09-28 14202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6-09-28 14213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6-09-28 14215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6-09-28 14225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332656"/>
            <a:ext cx="878497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 smtClean="0">
                <a:solidFill>
                  <a:srgbClr val="89E0FF"/>
                </a:solidFill>
                <a:latin typeface="Arial Black" pitchFamily="34" charset="0"/>
                <a:cs typeface="Times New Roman" pitchFamily="18" charset="0"/>
              </a:rPr>
              <a:t>Main improvement suggestions:</a:t>
            </a:r>
            <a:endParaRPr lang="en-US" sz="2400" dirty="0" smtClean="0">
              <a:solidFill>
                <a:srgbClr val="89E0FF"/>
              </a:solidFill>
              <a:latin typeface="Arial Black" pitchFamily="34" charset="0"/>
              <a:cs typeface="Times New Roman" pitchFamily="18" charset="0"/>
            </a:endParaRP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Optimize the largest visible page element to reduce LCP from 17.0 seconds.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Reduce or defer JavaScript and CSS that delay page loading.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Keep CLS at 0.00 by reserving space for images and banners.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Re-test on mobile after changes and compare the Page Speed score.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332656"/>
            <a:ext cx="8820472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REPORT THE MOBILE RESULTS:-</a:t>
            </a:r>
          </a:p>
          <a:p>
            <a:pPr>
              <a:lnSpc>
                <a:spcPct val="20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Page tested: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Apollo Pharmacy (www.apollopharmacy.in )</a:t>
            </a:r>
          </a:p>
          <a:p>
            <a:pPr>
              <a:lnSpc>
                <a:spcPct val="20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Device: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Desktop</a:t>
            </a:r>
          </a:p>
          <a:p>
            <a:pPr>
              <a:lnSpc>
                <a:spcPct val="20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Performance score: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69/ 100</a:t>
            </a:r>
          </a:p>
          <a:p>
            <a:pPr>
              <a:lnSpc>
                <a:spcPct val="20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Largest Contentful  Paint (LCP):1.5s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Cumulative Layout Shift (CLS):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0.0</a:t>
            </a:r>
          </a:p>
          <a:p>
            <a:pPr>
              <a:lnSpc>
                <a:spcPct val="20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First Contentful Paint(FCP):0.8s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9-28 13563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6-09-28 135556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9-28 135736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3528" y="260648"/>
            <a:ext cx="8568952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800" b="1" dirty="0" smtClean="0">
                <a:solidFill>
                  <a:srgbClr val="89E0FF"/>
                </a:solidFill>
                <a:latin typeface="Times New Roman" pitchFamily="18" charset="0"/>
                <a:cs typeface="Times New Roman" pitchFamily="18" charset="0"/>
              </a:rPr>
              <a:t>Main improvement suggestions:</a:t>
            </a:r>
            <a:endParaRPr lang="en-US" sz="2800" dirty="0" smtClean="0">
              <a:solidFill>
                <a:srgbClr val="89E0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Review Page Speed Insights’ Opportunities and fix its highest-impact items first.</a:t>
            </a:r>
          </a:p>
          <a:p>
            <a:pPr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Reduce unused JavaScript and CSS; defer scripts that aren’t needed to display the page.</a:t>
            </a:r>
          </a:p>
          <a:p>
            <a:pPr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Optimize images and enable efficient caching where the report recommends it.</a:t>
            </a:r>
          </a:p>
          <a:p>
            <a:pPr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Re-test on desktop after changes and compare the score.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9-27 16591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9-27 170415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9-27 17043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9-27 17050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9-27 17051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9-27 17061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0"/>
            <a:ext cx="3850734" cy="7397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 smtClean="0">
                <a:solidFill>
                  <a:srgbClr val="99FF99"/>
                </a:solidFill>
                <a:latin typeface="Arial" pitchFamily="34" charset="0"/>
                <a:cs typeface="Arial" pitchFamily="34" charset="0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520" y="764704"/>
            <a:ext cx="871296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CCFF"/>
                </a:solidFill>
                <a:latin typeface="Times New Roman" pitchFamily="18" charset="0"/>
                <a:cs typeface="Times New Roman" pitchFamily="18" charset="0"/>
              </a:rPr>
              <a:t>Implement Medical Reviewer Bylines:-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Ensure every informational blog post, medicine guide, or condition page explicitly states who wrote the content and who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medically reviewed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it.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CCFF"/>
                </a:solidFill>
                <a:latin typeface="Times New Roman" pitchFamily="18" charset="0"/>
                <a:cs typeface="Times New Roman" pitchFamily="18" charset="0"/>
              </a:rPr>
              <a:t>Dynamic Citations for Clinical Claims:-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Any page discussing drug side effects, dosages, or health conditions must link out to high-authority, peer-reviewed medical sources like PubMed, NIH, or the WHO.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CCFF"/>
                </a:solidFill>
                <a:latin typeface="Times New Roman" pitchFamily="18" charset="0"/>
                <a:cs typeface="Times New Roman" pitchFamily="18" charset="0"/>
              </a:rPr>
              <a:t>Outdated Content Decay Check:-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Medical guidelines change. Recommend a content pruning or optimization schedule to ensure old health articles are updated with current medical terminology and data.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260648"/>
            <a:ext cx="8964488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CCFF"/>
                </a:solidFill>
                <a:latin typeface="Times New Roman" pitchFamily="18" charset="0"/>
                <a:cs typeface="Times New Roman" pitchFamily="18" charset="0"/>
              </a:rPr>
              <a:t>Programmatic Store Landing Pages:-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Audit their store locator setup. Every physical branch should have a unique, indexable URL (e.g., apollopharmacy.in/stores/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bengaluru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/indiranagar).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CCFF"/>
                </a:solidFill>
                <a:latin typeface="Times New Roman" pitchFamily="18" charset="0"/>
                <a:cs typeface="Times New Roman" pitchFamily="18" charset="0"/>
              </a:rPr>
              <a:t>Clean Up Faceted Navigation:-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E-commerce filters (sorting by brand, price, dosage, or pack size) can generate millions of duplicate URLs.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CCFF"/>
                </a:solidFill>
                <a:latin typeface="Times New Roman" pitchFamily="18" charset="0"/>
                <a:cs typeface="Times New Roman" pitchFamily="18" charset="0"/>
              </a:rPr>
              <a:t>Eliminate Keyword Cannibalization on Medicine Pages:-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Often, generic medicine names (e.g.,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Paracetamol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conflict with branded variants (e.g.,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Crocin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CCFF"/>
                </a:solidFill>
                <a:latin typeface="Times New Roman" pitchFamily="18" charset="0"/>
                <a:cs typeface="Times New Roman" pitchFamily="18" charset="0"/>
              </a:rPr>
              <a:t>Build Topic Clusters for Chronic Illnesses:-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Group content logically around major disease states (e.g., Diabetes, Hypertension, Cardiac Care).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404664"/>
            <a:ext cx="8712968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CCFF"/>
                </a:solidFill>
                <a:latin typeface="Times New Roman" pitchFamily="18" charset="0"/>
                <a:cs typeface="Times New Roman" pitchFamily="18" charset="0"/>
              </a:rPr>
              <a:t>Target Long-Tail "Substituted" Search Intent:-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Patients frequently search for alternatives to expensive medicines (e.g., "cheaper substitute for [Drug Name]").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CCFF"/>
                </a:solidFill>
                <a:latin typeface="Times New Roman" pitchFamily="18" charset="0"/>
                <a:cs typeface="Times New Roman" pitchFamily="18" charset="0"/>
              </a:rPr>
              <a:t>Core Web Vitals Optimization:-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Check mobile speed performance—specifically Largest Contentful Paint (LCP) and Cumulative Layout Shift (CLS). E-commerce sites with slow product page load times suffer from reduced search rankings and higher cart abandonment.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CCFF"/>
                </a:solidFill>
                <a:latin typeface="Times New Roman" pitchFamily="18" charset="0"/>
                <a:cs typeface="Times New Roman" pitchFamily="18" charset="0"/>
              </a:rPr>
              <a:t>Search &amp; Navigation UX:-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Ensure that the site wide search function is easily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crawlable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by search bots via HTML sitemaps, enabling Google to discover buried products easily.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60648"/>
            <a:ext cx="26602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89E0FF"/>
                </a:solidFill>
                <a:latin typeface="Arial Black" pitchFamily="34" charset="0"/>
              </a:rPr>
              <a:t>Conclusion</a:t>
            </a:r>
            <a:endParaRPr lang="en-US" sz="3200" dirty="0">
              <a:solidFill>
                <a:srgbClr val="89E0FF"/>
              </a:solidFill>
              <a:latin typeface="Arial Black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9512" y="908720"/>
            <a:ext cx="871296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Apollo Pharmacy’s website provides clear routes to medicines, product categories, health conditions, and related services. The homepage links tested opened as expected.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customer journey moves from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awareness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through search and categories,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consideration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of products and services,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purchase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through medicine ordering,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retention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through features such as Circle Membership.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the desktop PageSpeed test, the site scored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69/100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LCP (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1.5 seconds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and CLS (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0.00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were good, but the overall performance score still needs improvement.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3528" y="260648"/>
            <a:ext cx="86409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Priorities are to follow PageSpeed Insights’ specific recommendations, strengthen SEO on important category pages, and verify that key pages are included in the sitemap and accessible for crawling.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project reviewed public pages and selected links; private Search Console data and full-site indexing coverage were not available.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Apollo Pharmacy offers clear shopping and service pathways, with opportunities to improve page performance and search visibility.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947</TotalTime>
  <Words>1128</Words>
  <Application>Microsoft Office PowerPoint</Application>
  <PresentationFormat>On-screen Show (4:3)</PresentationFormat>
  <Paragraphs>106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Verve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99</cp:revision>
  <dcterms:created xsi:type="dcterms:W3CDTF">2026-09-24T11:32:10Z</dcterms:created>
  <dcterms:modified xsi:type="dcterms:W3CDTF">2026-09-30T05:58:37Z</dcterms:modified>
</cp:coreProperties>
</file>